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y="6858000" cx="12192000"/>
  <p:notesSz cx="6858000" cy="9144000"/>
  <p:embeddedFontLst>
    <p:embeddedFont>
      <p:font typeface="Arial Black"/>
      <p:regular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296">
          <p15:clr>
            <a:srgbClr val="A4A3A4"/>
          </p15:clr>
        </p15:guide>
        <p15:guide id="2" pos="3707">
          <p15:clr>
            <a:srgbClr val="A4A3A4"/>
          </p15:clr>
        </p15:guide>
      </p15:sldGuideLst>
    </p:ext>
    <p:ext uri="GoogleSlidesCustomDataVersion2">
      <go:slidesCustomData xmlns:go="http://customooxmlschemas.google.com/" r:id="rId44" roundtripDataSignature="AMtx7mgC3H8UrSiV0QLNb/+/5Tq9EV5w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54FD5DF-8745-455B-9725-F24967BF149A}">
  <a:tblStyle styleId="{454FD5DF-8745-455B-9725-F24967BF149A}" styleName="Table_0">
    <a:wholeTbl>
      <a:tcTxStyle b="off" i="off">
        <a:font>
          <a:latin typeface="思源黑体 CN Light"/>
          <a:ea typeface="思源黑体 CN Light"/>
          <a:cs typeface="思源黑体 CN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思源黑体 CN Light"/>
          <a:ea typeface="思源黑体 CN Light"/>
          <a:cs typeface="思源黑体 CN Light"/>
        </a:font>
        <a:schemeClr val="lt1"/>
      </a:tcTxStyle>
      <a:tcStyle>
        <a:fill>
          <a:solidFill>
            <a:schemeClr val="accent5"/>
          </a:solidFill>
        </a:fill>
      </a:tcStyle>
    </a:lastCol>
    <a:firstCol>
      <a:tcTxStyle b="on" i="off">
        <a:font>
          <a:latin typeface="思源黑体 CN Light"/>
          <a:ea typeface="思源黑体 CN Light"/>
          <a:cs typeface="思源黑体 CN Light"/>
        </a:font>
        <a:schemeClr val="lt1"/>
      </a:tcTxStyle>
      <a:tcStyle>
        <a:fill>
          <a:solidFill>
            <a:schemeClr val="accent5"/>
          </a:solidFill>
        </a:fill>
      </a:tcStyle>
    </a:firstCol>
    <a:lastRow>
      <a:tcTxStyle b="on" i="off">
        <a:font>
          <a:latin typeface="思源黑体 CN Light"/>
          <a:ea typeface="思源黑体 CN Light"/>
          <a:cs typeface="思源黑体 CN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5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思源黑体 CN Light"/>
          <a:ea typeface="思源黑体 CN Light"/>
          <a:cs typeface="思源黑体 CN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5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296" orient="horz"/>
        <p:guide pos="3707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customschemas.google.com/relationships/presentationmetadata" Target="metadata"/><Relationship Id="rId21" Type="http://schemas.openxmlformats.org/officeDocument/2006/relationships/slide" Target="slides/slide15.xml"/><Relationship Id="rId43" Type="http://schemas.openxmlformats.org/officeDocument/2006/relationships/font" Target="fonts/ArialBlack-regular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4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自定义版式">
  <p:cSld name="15_自定义版式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自定义版式">
  <p:cSld name="16_自定义版式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蓝色的汽车&#10;&#10;描述已自动生成" id="16" name="Google Shape;16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1"/>
            <a:ext cx="12192000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exels-burst-373965" id="17" name="Google Shape;17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9"/>
          <p:cNvSpPr/>
          <p:nvPr/>
        </p:nvSpPr>
        <p:spPr>
          <a:xfrm>
            <a:off x="-76200" y="-85725"/>
            <a:ext cx="12363450" cy="6990715"/>
          </a:xfrm>
          <a:prstGeom prst="rect">
            <a:avLst/>
          </a:prstGeom>
          <a:solidFill>
            <a:srgbClr val="1C1F25">
              <a:alpha val="6274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自定义版式">
  <p:cSld name="17_自定义版式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未标题-1" id="20" name="Google Shape;20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635" cy="6858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自定义版式">
  <p:cSld name="19_自定义版式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1"/>
            <a:ext cx="12192000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0_Main Slide">
  <p:cSld name="40_Main Slid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自定义版式">
  <p:cSld name="3_自定义版式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3"/>
          <p:cNvSpPr/>
          <p:nvPr>
            <p:ph idx="2" type="pic"/>
          </p:nvPr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自定义版式">
  <p:cSld name="5_自定义版式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4"/>
          <p:cNvSpPr/>
          <p:nvPr>
            <p:ph idx="2" type="pic"/>
          </p:nvPr>
        </p:nvSpPr>
        <p:spPr>
          <a:xfrm>
            <a:off x="3141371" y="614765"/>
            <a:ext cx="4203326" cy="557955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>
  <p:cSld name="标题幻灯片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5"/>
          <p:cNvSpPr/>
          <p:nvPr>
            <p:ph idx="2" type="pic"/>
          </p:nvPr>
        </p:nvSpPr>
        <p:spPr>
          <a:xfrm>
            <a:off x="905515" y="744551"/>
            <a:ext cx="5230812" cy="51371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6.jp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8.xml"/><Relationship Id="rId9" Type="http://schemas.openxmlformats.org/officeDocument/2006/relationships/slideLayout" Target="../slideLayouts/slideLayout7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7"/>
          <p:cNvSpPr txBox="1"/>
          <p:nvPr>
            <p:ph idx="11" type="ftr"/>
          </p:nvPr>
        </p:nvSpPr>
        <p:spPr>
          <a:xfrm>
            <a:off x="117566" y="6126480"/>
            <a:ext cx="8035834" cy="5949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1" name="Google Shape;11;p37"/>
          <p:cNvGrpSpPr/>
          <p:nvPr/>
        </p:nvGrpSpPr>
        <p:grpSpPr>
          <a:xfrm>
            <a:off x="81060" y="5874385"/>
            <a:ext cx="6967074" cy="958594"/>
            <a:chOff x="81060" y="5874385"/>
            <a:chExt cx="6967074" cy="958594"/>
          </a:xfrm>
        </p:grpSpPr>
        <p:sp>
          <p:nvSpPr>
            <p:cNvPr id="12" name="Google Shape;12;p37"/>
            <p:cNvSpPr/>
            <p:nvPr/>
          </p:nvSpPr>
          <p:spPr>
            <a:xfrm>
              <a:off x="1049240" y="6115546"/>
              <a:ext cx="5998894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PROGRAM STUDI INFORMATIKA</a:t>
              </a:r>
              <a:endParaRPr b="1" i="0" sz="1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UNIVERSITAS GUNADARMA</a:t>
              </a:r>
              <a:endParaRPr b="1" i="0" sz="1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pic>
          <p:nvPicPr>
            <p:cNvPr id="13" name="Google Shape;13;p37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81060" y="5874385"/>
              <a:ext cx="968180" cy="95859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jp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jpg"/><Relationship Id="rId4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jpg"/><Relationship Id="rId4" Type="http://schemas.openxmlformats.org/officeDocument/2006/relationships/image" Target="../media/image1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jpg"/><Relationship Id="rId4" Type="http://schemas.openxmlformats.org/officeDocument/2006/relationships/image" Target="../media/image7.jpg"/><Relationship Id="rId5" Type="http://schemas.openxmlformats.org/officeDocument/2006/relationships/image" Target="../media/image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jpg"/><Relationship Id="rId4" Type="http://schemas.openxmlformats.org/officeDocument/2006/relationships/image" Target="../media/image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jpg"/><Relationship Id="rId4" Type="http://schemas.openxmlformats.org/officeDocument/2006/relationships/image" Target="../media/image1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Relationship Id="rId4" Type="http://schemas.openxmlformats.org/officeDocument/2006/relationships/image" Target="../media/image1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jpg"/><Relationship Id="rId4" Type="http://schemas.openxmlformats.org/officeDocument/2006/relationships/image" Target="../media/image23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jpg"/><Relationship Id="rId4" Type="http://schemas.openxmlformats.org/officeDocument/2006/relationships/image" Target="../media/image22.jpg"/><Relationship Id="rId5" Type="http://schemas.openxmlformats.org/officeDocument/2006/relationships/image" Target="../media/image20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jpg"/><Relationship Id="rId4" Type="http://schemas.openxmlformats.org/officeDocument/2006/relationships/image" Target="../media/image17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jpg"/><Relationship Id="rId4" Type="http://schemas.openxmlformats.org/officeDocument/2006/relationships/image" Target="../media/image21.jpg"/><Relationship Id="rId5" Type="http://schemas.openxmlformats.org/officeDocument/2006/relationships/image" Target="../media/image15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jpg"/><Relationship Id="rId4" Type="http://schemas.openxmlformats.org/officeDocument/2006/relationships/image" Target="../media/image25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jpg"/><Relationship Id="rId4" Type="http://schemas.openxmlformats.org/officeDocument/2006/relationships/image" Target="../media/image26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0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0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0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0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0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0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0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0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9.jp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未标题-1" id="34" name="Google Shape;3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5" y="0"/>
            <a:ext cx="121888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1"/>
          <p:cNvSpPr/>
          <p:nvPr/>
        </p:nvSpPr>
        <p:spPr>
          <a:xfrm>
            <a:off x="927100" y="3150235"/>
            <a:ext cx="588645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PERTEMUAN KE-4 – BAHASA PEMROGRAMAN PHYTON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" name="Google Shape;36;p1"/>
          <p:cNvCxnSpPr/>
          <p:nvPr/>
        </p:nvCxnSpPr>
        <p:spPr>
          <a:xfrm rot="10800000">
            <a:off x="1010920" y="3705225"/>
            <a:ext cx="6480175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dot"/>
            <a:miter lim="800000"/>
            <a:headEnd len="sm" w="sm" type="none"/>
            <a:tailEnd len="sm" w="sm" type="none"/>
          </a:ln>
        </p:spPr>
      </p:cxnSp>
      <p:sp>
        <p:nvSpPr>
          <p:cNvPr id="37" name="Google Shape;37;p1"/>
          <p:cNvSpPr/>
          <p:nvPr/>
        </p:nvSpPr>
        <p:spPr>
          <a:xfrm>
            <a:off x="796995" y="1192844"/>
            <a:ext cx="9234900" cy="10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&lt;PEMROGRAMAN JARINGAN&gt;</a:t>
            </a:r>
            <a:endParaRPr b="0" i="0" sz="6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" name="Google Shape;38;p1"/>
          <p:cNvGrpSpPr/>
          <p:nvPr/>
        </p:nvGrpSpPr>
        <p:grpSpPr>
          <a:xfrm>
            <a:off x="81060" y="5874385"/>
            <a:ext cx="6967074" cy="958594"/>
            <a:chOff x="81060" y="5874385"/>
            <a:chExt cx="6967074" cy="958594"/>
          </a:xfrm>
        </p:grpSpPr>
        <p:sp>
          <p:nvSpPr>
            <p:cNvPr id="39" name="Google Shape;39;p1"/>
            <p:cNvSpPr/>
            <p:nvPr/>
          </p:nvSpPr>
          <p:spPr>
            <a:xfrm>
              <a:off x="1049240" y="6115546"/>
              <a:ext cx="5998894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PROGRAM STUDI INFORMATIKA</a:t>
              </a:r>
              <a:endParaRPr b="1" i="0" sz="1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UNIVERSITAS GUNADARMA</a:t>
              </a:r>
              <a:endParaRPr b="1" i="0" sz="1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pic>
          <p:nvPicPr>
            <p:cNvPr id="40" name="Google Shape;40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1060" y="5874385"/>
              <a:ext cx="968180" cy="95859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5E96E1"/>
            </a:gs>
            <a:gs pos="79000">
              <a:srgbClr val="101BE1"/>
            </a:gs>
            <a:gs pos="100000">
              <a:srgbClr val="101BE1"/>
            </a:gs>
          </a:gsLst>
          <a:lin ang="6480000" scaled="0"/>
        </a:gra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"/>
          <p:cNvSpPr/>
          <p:nvPr/>
        </p:nvSpPr>
        <p:spPr>
          <a:xfrm>
            <a:off x="3000375" y="123825"/>
            <a:ext cx="6610350" cy="6610350"/>
          </a:xfrm>
          <a:prstGeom prst="ellipse">
            <a:avLst/>
          </a:prstGeom>
          <a:gradFill>
            <a:gsLst>
              <a:gs pos="0">
                <a:srgbClr val="5E96E1"/>
              </a:gs>
              <a:gs pos="33000">
                <a:srgbClr val="5E96E1"/>
              </a:gs>
              <a:gs pos="92000">
                <a:srgbClr val="101BE1"/>
              </a:gs>
              <a:gs pos="100000">
                <a:srgbClr val="101BE1"/>
              </a:gs>
            </a:gsLst>
            <a:lin ang="1775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3375660" y="3554730"/>
            <a:ext cx="5517515" cy="423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REVIEW BAHASA PEMROGRAMAN PHYTON</a:t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4859655" y="1895475"/>
            <a:ext cx="2549525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3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"/>
          <p:cNvSpPr txBox="1"/>
          <p:nvPr/>
        </p:nvSpPr>
        <p:spPr>
          <a:xfrm>
            <a:off x="1553845" y="1749425"/>
            <a:ext cx="9093835" cy="38817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Python adalah bahasa pemrograman tingkat tinggi yang mudah dipelajari dan serbaguna.</a:t>
            </a:r>
            <a:endParaRPr b="0" i="0" sz="2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Diciptakan oleh Guido van Rossum pada tahun 1991.</a:t>
            </a:r>
            <a:endParaRPr b="0" i="0" sz="2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Fokus pada kesederhanaan sintaks dan keterbacaan kode.</a:t>
            </a:r>
            <a:endParaRPr b="0" i="0" sz="2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🗣️ “Kode Python mudah dibaca seperti bahasa manusia.”</a:t>
            </a:r>
            <a:endParaRPr b="0" i="0" sz="2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3"/>
          <p:cNvSpPr txBox="1"/>
          <p:nvPr/>
        </p:nvSpPr>
        <p:spPr>
          <a:xfrm>
            <a:off x="1111250" y="833120"/>
            <a:ext cx="7045325" cy="5835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Bahasa Pemrograman Phyton</a:t>
            </a:r>
            <a:endParaRPr b="1" i="0" sz="32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"/>
          <p:cNvSpPr txBox="1"/>
          <p:nvPr/>
        </p:nvSpPr>
        <p:spPr>
          <a:xfrm>
            <a:off x="1553845" y="1749425"/>
            <a:ext cx="9093835" cy="302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Sintaks sederhana dan jelas</a:t>
            </a:r>
            <a:endParaRPr b="0" i="0" sz="2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Bahasa interpreted (tidak perlu dikompilasi)</a:t>
            </a:r>
            <a:endParaRPr b="0" i="0" sz="2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Cross-platform (bisa dijalankan di Windows, Linux, MacOS)</a:t>
            </a:r>
            <a:endParaRPr b="0" i="0" sz="2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Mendukung pemrograman berorientasi objek (OOP)</a:t>
            </a:r>
            <a:endParaRPr b="0" i="0" sz="2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Memiliki banyak library bawaan</a:t>
            </a:r>
            <a:endParaRPr b="0" i="0" sz="2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4"/>
          <p:cNvSpPr txBox="1"/>
          <p:nvPr/>
        </p:nvSpPr>
        <p:spPr>
          <a:xfrm>
            <a:off x="1111250" y="833120"/>
            <a:ext cx="7045325" cy="5835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Ciri dan Karakteristik Phyton</a:t>
            </a:r>
            <a:endParaRPr b="1" i="0" sz="32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 txBox="1"/>
          <p:nvPr/>
        </p:nvSpPr>
        <p:spPr>
          <a:xfrm>
            <a:off x="1111250" y="833120"/>
            <a:ext cx="7045325" cy="5835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Struktur Dasar Program Phyton</a:t>
            </a:r>
            <a:endParaRPr b="1" i="0" sz="32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1" id="65" name="Google Shape;6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37790" y="1565910"/>
            <a:ext cx="6403340" cy="225806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5"/>
          <p:cNvSpPr txBox="1"/>
          <p:nvPr/>
        </p:nvSpPr>
        <p:spPr>
          <a:xfrm>
            <a:off x="1819275" y="3973195"/>
            <a:ext cx="9093835" cy="1383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Python tidak menggunakan tanda kurung kurawal {}, tapi menggunakan indentasi (spasi/tab) untuk blok kode.</a:t>
            </a:r>
            <a:endParaRPr b="0" i="0" sz="2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"/>
          <p:cNvSpPr txBox="1"/>
          <p:nvPr/>
        </p:nvSpPr>
        <p:spPr>
          <a:xfrm>
            <a:off x="1111250" y="833120"/>
            <a:ext cx="7045325" cy="5835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Tipe Data Utama pada Phyton</a:t>
            </a:r>
            <a:endParaRPr b="1" i="0" sz="32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2" id="72" name="Google Shape;7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8285" y="1779905"/>
            <a:ext cx="8562975" cy="3298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"/>
          <p:cNvSpPr txBox="1"/>
          <p:nvPr/>
        </p:nvSpPr>
        <p:spPr>
          <a:xfrm>
            <a:off x="1111250" y="833120"/>
            <a:ext cx="8470900" cy="5835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Struktur Kontrol Dasar pada Phyton</a:t>
            </a:r>
            <a:endParaRPr b="1" i="0" sz="32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7"/>
          <p:cNvSpPr txBox="1"/>
          <p:nvPr/>
        </p:nvSpPr>
        <p:spPr>
          <a:xfrm>
            <a:off x="1111250" y="1416685"/>
            <a:ext cx="4984115" cy="43014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Percabangan digunakan untuk mengambil keputusan berdasarkan kondisi tertentu (benar atau salah), terdiri dari if, if else, if elif else, nested if,</a:t>
            </a:r>
            <a:endParaRPr b="0" i="0" sz="24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Perulangan digunakan untuk menjalankan blok kode secara berulang, terdiri dari for dan while.</a:t>
            </a:r>
            <a:endParaRPr b="0" i="0" sz="24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4" id="79" name="Google Shape;7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8830" y="4158615"/>
            <a:ext cx="3497580" cy="1457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3" id="80" name="Google Shape;8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8830" y="1577340"/>
            <a:ext cx="3497580" cy="16376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"/>
          <p:cNvSpPr txBox="1"/>
          <p:nvPr/>
        </p:nvSpPr>
        <p:spPr>
          <a:xfrm>
            <a:off x="1111250" y="833120"/>
            <a:ext cx="7045325" cy="5835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Library Populer pada Phyton</a:t>
            </a:r>
            <a:endParaRPr b="1" i="0" sz="32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5" id="86" name="Google Shape;8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79675" y="2551430"/>
            <a:ext cx="7279640" cy="316357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8"/>
          <p:cNvSpPr txBox="1"/>
          <p:nvPr/>
        </p:nvSpPr>
        <p:spPr>
          <a:xfrm>
            <a:off x="1111250" y="1416685"/>
            <a:ext cx="10256520" cy="8299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Library (pustaka) pada Python adalah kumpulan modul, fungsi, dan kode siap pakai yang dibuat untuk mempermudah pengembangan program.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9"/>
          <p:cNvSpPr txBox="1"/>
          <p:nvPr/>
        </p:nvSpPr>
        <p:spPr>
          <a:xfrm>
            <a:off x="1111250" y="833120"/>
            <a:ext cx="7045325" cy="5835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Library Populer pada Phyton</a:t>
            </a:r>
            <a:endParaRPr b="1" sz="32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9"/>
          <p:cNvSpPr txBox="1"/>
          <p:nvPr/>
        </p:nvSpPr>
        <p:spPr>
          <a:xfrm>
            <a:off x="1111250" y="1416685"/>
            <a:ext cx="10256520" cy="119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Library Bawaan (Built-in Libraries)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Library yang sudah tersedia otomatis saat kita menginstal Python, tanpa perlu diunduh lagi.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6" id="94" name="Google Shape;9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44520" y="2615565"/>
            <a:ext cx="5288915" cy="32277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0"/>
          <p:cNvSpPr txBox="1"/>
          <p:nvPr/>
        </p:nvSpPr>
        <p:spPr>
          <a:xfrm>
            <a:off x="1111250" y="833120"/>
            <a:ext cx="7045325" cy="5835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Library Populer pada Phyton</a:t>
            </a:r>
            <a:endParaRPr b="1" sz="32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0"/>
          <p:cNvSpPr txBox="1"/>
          <p:nvPr/>
        </p:nvSpPr>
        <p:spPr>
          <a:xfrm>
            <a:off x="1111250" y="1416685"/>
            <a:ext cx="10256520" cy="119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Library Eksternal (External / Third-Party Libraries)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Library yang harus diinstal terlebih dahulu menggunakan manajer paket Python bernama pip.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8" id="101" name="Google Shape;10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38500" y="2616200"/>
            <a:ext cx="5090160" cy="34785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1"/>
          <p:cNvSpPr txBox="1"/>
          <p:nvPr/>
        </p:nvSpPr>
        <p:spPr>
          <a:xfrm>
            <a:off x="1553845" y="1749425"/>
            <a:ext cx="9093835" cy="3279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Mudah dipelajari untuk pemula</a:t>
            </a:r>
            <a:endParaRPr sz="28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Cocok untuk berbagai bidang : Data Science, Artificial Intelligence (AI),Web Development, Internet of Things (IoT), Otomasi sistem, Otomasi jaringan, Analisis Data Jaringan, Keamanan Siber, dan Komunikasi Socket.</a:t>
            </a:r>
            <a:endParaRPr sz="28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Komunitas besar dan dokumentasi lengkap</a:t>
            </a:r>
            <a:endParaRPr sz="28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1"/>
          <p:cNvSpPr txBox="1"/>
          <p:nvPr/>
        </p:nvSpPr>
        <p:spPr>
          <a:xfrm>
            <a:off x="1111250" y="833120"/>
            <a:ext cx="7045325" cy="5835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Kelebihan Phyton</a:t>
            </a:r>
            <a:endParaRPr b="1" sz="32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5E96E1"/>
            </a:gs>
            <a:gs pos="79000">
              <a:srgbClr val="101BE1"/>
            </a:gs>
            <a:gs pos="100000">
              <a:srgbClr val="101BE1"/>
            </a:gs>
          </a:gsLst>
          <a:lin ang="6480000" scaled="0"/>
        </a:gra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2"/>
          <p:cNvSpPr/>
          <p:nvPr/>
        </p:nvSpPr>
        <p:spPr>
          <a:xfrm>
            <a:off x="3000375" y="123825"/>
            <a:ext cx="6610350" cy="6610350"/>
          </a:xfrm>
          <a:prstGeom prst="ellipse">
            <a:avLst/>
          </a:prstGeom>
          <a:gradFill>
            <a:gsLst>
              <a:gs pos="0">
                <a:srgbClr val="5E96E1"/>
              </a:gs>
              <a:gs pos="33000">
                <a:srgbClr val="5E96E1"/>
              </a:gs>
              <a:gs pos="92000">
                <a:srgbClr val="101BE1"/>
              </a:gs>
              <a:gs pos="100000">
                <a:srgbClr val="101BE1"/>
              </a:gs>
            </a:gsLst>
            <a:lin ang="1775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2"/>
          <p:cNvSpPr/>
          <p:nvPr/>
        </p:nvSpPr>
        <p:spPr>
          <a:xfrm>
            <a:off x="3375660" y="3554730"/>
            <a:ext cx="5517515" cy="9220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Library untuk </a:t>
            </a:r>
            <a:endParaRPr sz="3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Socket Programming</a:t>
            </a:r>
            <a:endParaRPr sz="3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2"/>
          <p:cNvSpPr/>
          <p:nvPr/>
        </p:nvSpPr>
        <p:spPr>
          <a:xfrm>
            <a:off x="4859655" y="1895475"/>
            <a:ext cx="2549525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3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3"/>
          <p:cNvSpPr txBox="1"/>
          <p:nvPr/>
        </p:nvSpPr>
        <p:spPr>
          <a:xfrm>
            <a:off x="1553845" y="1749425"/>
            <a:ext cx="9093835" cy="8299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Python menyediakan beberapa jenis socket, tergantung pada domain dan tipe protokolnya:</a:t>
            </a:r>
            <a:endParaRPr sz="24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3"/>
          <p:cNvSpPr txBox="1"/>
          <p:nvPr/>
        </p:nvSpPr>
        <p:spPr>
          <a:xfrm>
            <a:off x="1111250" y="833120"/>
            <a:ext cx="7045325" cy="5835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Jenis-jenis Socket</a:t>
            </a:r>
            <a:endParaRPr b="1" sz="32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8" id="121" name="Google Shape;12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00325" y="2823210"/>
            <a:ext cx="6990715" cy="264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4"/>
          <p:cNvSpPr txBox="1"/>
          <p:nvPr/>
        </p:nvSpPr>
        <p:spPr>
          <a:xfrm>
            <a:off x="1553845" y="1749425"/>
            <a:ext cx="9093835" cy="37103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Library socket adalah modul bawaan Python yang digunakan untuk komunikasi jaringan antara dua komputer (atau proses) melalui protokol TCP/IP.</a:t>
            </a:r>
            <a:endParaRPr sz="24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Dengan socket, kita bisa membuat:</a:t>
            </a:r>
            <a:endParaRPr sz="24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1. Server (yang menunggu koneksi)</a:t>
            </a:r>
            <a:endParaRPr sz="24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2. Client (yang menghubungkan diri ke server)</a:t>
            </a:r>
            <a:endParaRPr sz="24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Socket memungkinkan pertukaran data antara dua endpoint jaringan — disebut socket endpoint — yang diidentifikasi oleh alamat IP dan port number.</a:t>
            </a:r>
            <a:endParaRPr sz="24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4"/>
          <p:cNvSpPr txBox="1"/>
          <p:nvPr/>
        </p:nvSpPr>
        <p:spPr>
          <a:xfrm>
            <a:off x="1111250" y="833120"/>
            <a:ext cx="7045325" cy="5835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Library Socket</a:t>
            </a:r>
            <a:endParaRPr b="1" sz="32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5"/>
          <p:cNvSpPr txBox="1"/>
          <p:nvPr/>
        </p:nvSpPr>
        <p:spPr>
          <a:xfrm>
            <a:off x="1111250" y="1416685"/>
            <a:ext cx="10062210" cy="8299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Library (modul) yang sering digunakan dalam socket programming di Python</a:t>
            </a:r>
            <a:endParaRPr sz="24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5"/>
          <p:cNvSpPr txBox="1"/>
          <p:nvPr/>
        </p:nvSpPr>
        <p:spPr>
          <a:xfrm>
            <a:off x="1111250" y="833120"/>
            <a:ext cx="7045325" cy="5835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Library Socket</a:t>
            </a:r>
            <a:endParaRPr b="1" sz="32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5"/>
          <p:cNvSpPr txBox="1"/>
          <p:nvPr/>
        </p:nvSpPr>
        <p:spPr>
          <a:xfrm>
            <a:off x="1111250" y="2579370"/>
            <a:ext cx="9930130" cy="2536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socket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Fungsi utama: Modul inti untuk membuat komunikasi jaringan (TCP/UDP) di Python.Digunakan untuk: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Membuat server dan client socket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Mengirim dan menerima data  melalui jaringan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Menentukan alamat IP dan port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6"/>
          <p:cNvSpPr txBox="1"/>
          <p:nvPr/>
        </p:nvSpPr>
        <p:spPr>
          <a:xfrm>
            <a:off x="1111250" y="833120"/>
            <a:ext cx="7045325" cy="5835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Library Socket</a:t>
            </a:r>
            <a:endParaRPr b="1" sz="32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8" id="140" name="Google Shape;14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1250" y="2525395"/>
            <a:ext cx="4822825" cy="3609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1111250" y="1603375"/>
            <a:ext cx="5942330" cy="9220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 Server TCP dengan Python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socket library)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server.py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8" id="142" name="Google Shape;14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36715" y="2525395"/>
            <a:ext cx="4524375" cy="231457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 txBox="1"/>
          <p:nvPr/>
        </p:nvSpPr>
        <p:spPr>
          <a:xfrm>
            <a:off x="6736715" y="1741805"/>
            <a:ext cx="3806190" cy="9220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Untuk menguji koneksi: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client.py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7"/>
          <p:cNvSpPr txBox="1"/>
          <p:nvPr/>
        </p:nvSpPr>
        <p:spPr>
          <a:xfrm>
            <a:off x="1111250" y="833120"/>
            <a:ext cx="7045325" cy="5835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Library Socket</a:t>
            </a:r>
            <a:endParaRPr b="1" sz="32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7"/>
          <p:cNvSpPr txBox="1"/>
          <p:nvPr/>
        </p:nvSpPr>
        <p:spPr>
          <a:xfrm>
            <a:off x="1111250" y="1445895"/>
            <a:ext cx="10328910" cy="16300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ssl (Secure Sockets Layer)</a:t>
            </a:r>
            <a:endParaRPr b="1"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Fungsi utama: Menyediakan lapisan keamanan di atas socket biasa (enkripsi TLS/SSL).Digunakan untuk: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Mengamankan koneksi antara client dan server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Menyediakan komunikasi terenkripsi untuk data sensitif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8" id="150" name="Google Shape;15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7975" y="3429000"/>
            <a:ext cx="6637655" cy="267398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1111250" y="4351020"/>
            <a:ext cx="3006725" cy="8299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 Koneksi Aman dengan Socket + SSL di Python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ssl_client.py</a:t>
            </a:r>
            <a:endParaRPr b="1"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8"/>
          <p:cNvSpPr txBox="1"/>
          <p:nvPr/>
        </p:nvSpPr>
        <p:spPr>
          <a:xfrm>
            <a:off x="1111250" y="833120"/>
            <a:ext cx="7045325" cy="5835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Library Socket</a:t>
            </a:r>
            <a:endParaRPr b="1" sz="32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8"/>
          <p:cNvSpPr txBox="1"/>
          <p:nvPr/>
        </p:nvSpPr>
        <p:spPr>
          <a:xfrm>
            <a:off x="1111250" y="1744980"/>
            <a:ext cx="10328910" cy="31692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Alur Logika Program</a:t>
            </a:r>
            <a:endParaRPr b="1"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Client (Python)                          Server (example.com)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----------------------------------------------------------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Membuat socket ──────────────▶  Port 443 (HTTPS)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Membungkus SSL ──────────────▶  Negosiasi TLS/SSL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Mengirim GET request ───────────▶  Kirim halaman web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Menerima respon ◀───────────── Data HTML terenkripsi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Menutup koneksi ──────────────▶ Koneksi selesai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9"/>
          <p:cNvSpPr txBox="1"/>
          <p:nvPr/>
        </p:nvSpPr>
        <p:spPr>
          <a:xfrm>
            <a:off x="1111250" y="833120"/>
            <a:ext cx="7045325" cy="5835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Library Socket</a:t>
            </a:r>
            <a:endParaRPr b="1" sz="32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>
            <a:off x="1111250" y="1591945"/>
            <a:ext cx="10163175" cy="3674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threading</a:t>
            </a:r>
            <a:endParaRPr b="1"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Fungsi utama: Menjalankan beberapa tugas (thread) secara bersamaan.Digunakan untuk: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Membuat server multi-client (setiap client dijalankan di thread sendiri)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Menangani beberapa koneksi secara paralel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0"/>
          <p:cNvSpPr txBox="1"/>
          <p:nvPr/>
        </p:nvSpPr>
        <p:spPr>
          <a:xfrm>
            <a:off x="1111250" y="833120"/>
            <a:ext cx="7045325" cy="5835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Library Socket</a:t>
            </a:r>
            <a:endParaRPr b="1" sz="32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1111250" y="1445895"/>
            <a:ext cx="4722495" cy="3674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8" id="170" name="Google Shape;17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29425" y="2223135"/>
            <a:ext cx="4248150" cy="2009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8" id="171" name="Google Shape;17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12215" y="1900555"/>
            <a:ext cx="4924425" cy="3219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0"/>
          <p:cNvSpPr txBox="1"/>
          <p:nvPr/>
        </p:nvSpPr>
        <p:spPr>
          <a:xfrm>
            <a:off x="1212215" y="1459230"/>
            <a:ext cx="1336040" cy="398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server.py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6829425" y="1501775"/>
            <a:ext cx="3806190" cy="1014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Untuk menguji koneksi: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client.py</a:t>
            </a:r>
            <a:endParaRPr b="1"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1"/>
          <p:cNvSpPr txBox="1"/>
          <p:nvPr/>
        </p:nvSpPr>
        <p:spPr>
          <a:xfrm>
            <a:off x="1111250" y="833120"/>
            <a:ext cx="7045325" cy="5835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Library Socket</a:t>
            </a:r>
            <a:endParaRPr b="1" sz="32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1"/>
          <p:cNvSpPr txBox="1"/>
          <p:nvPr/>
        </p:nvSpPr>
        <p:spPr>
          <a:xfrm>
            <a:off x="1111250" y="1744980"/>
            <a:ext cx="10328910" cy="37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Alur Logika Program</a:t>
            </a:r>
            <a:endParaRPr b="1"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Client 1 ─────────┐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Client 2 ─────────┤──▶ Server listening di port 8080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Client 3 ─────────┘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1️ Server menunggu koneksi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2️ Client terhubung → server buat thread baru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3️ Thread kirim "Selamat datang!" ke client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4️ Thread tutup koneksi client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5️ Server kembali menunggu koneksi berikutnya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2"/>
          <p:cNvSpPr txBox="1"/>
          <p:nvPr/>
        </p:nvSpPr>
        <p:spPr>
          <a:xfrm>
            <a:off x="1111250" y="833120"/>
            <a:ext cx="7045325" cy="5835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Library Socket</a:t>
            </a:r>
            <a:endParaRPr b="1" sz="32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2"/>
          <p:cNvSpPr txBox="1"/>
          <p:nvPr/>
        </p:nvSpPr>
        <p:spPr>
          <a:xfrm>
            <a:off x="1111250" y="1445895"/>
            <a:ext cx="9150350" cy="3674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time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Fungsi utama: Mengatur jeda (delay), mencatat waktu, atau menghitung lama proses.Digunakan untuk: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Delay antara pengiriman pesan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Timeout koneksi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Logging waktu transaksi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8" id="186" name="Google Shape;186;p22"/>
          <p:cNvPicPr preferRelativeResize="0"/>
          <p:nvPr/>
        </p:nvPicPr>
        <p:blipFill rotWithShape="1">
          <a:blip r:embed="rId4">
            <a:alphaModFix/>
          </a:blip>
          <a:srcRect b="0" l="0" r="19726" t="0"/>
          <a:stretch/>
        </p:blipFill>
        <p:spPr>
          <a:xfrm>
            <a:off x="1319530" y="4335780"/>
            <a:ext cx="3689985" cy="177546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2"/>
          <p:cNvSpPr txBox="1"/>
          <p:nvPr/>
        </p:nvSpPr>
        <p:spPr>
          <a:xfrm>
            <a:off x="1319530" y="4006850"/>
            <a:ext cx="1845310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waktu.py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2"/>
          <p:cNvSpPr txBox="1"/>
          <p:nvPr/>
        </p:nvSpPr>
        <p:spPr>
          <a:xfrm>
            <a:off x="5519420" y="4504690"/>
            <a:ext cx="6096000" cy="1753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Mulai koneksi...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↓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(Pause 2 detik menggunakan time.sleep)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↓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Koneksi selesai.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2"/>
          <p:cNvSpPr txBox="1"/>
          <p:nvPr/>
        </p:nvSpPr>
        <p:spPr>
          <a:xfrm>
            <a:off x="5553075" y="4006850"/>
            <a:ext cx="6096000" cy="398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Alur Logika Program :</a:t>
            </a:r>
            <a:endParaRPr b="1"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 txBox="1"/>
          <p:nvPr/>
        </p:nvSpPr>
        <p:spPr>
          <a:xfrm>
            <a:off x="1111250" y="833120"/>
            <a:ext cx="7045325" cy="5835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Library Socket</a:t>
            </a:r>
            <a:endParaRPr b="1" sz="32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3"/>
          <p:cNvSpPr txBox="1"/>
          <p:nvPr/>
        </p:nvSpPr>
        <p:spPr>
          <a:xfrm>
            <a:off x="1111250" y="1445895"/>
            <a:ext cx="4984115" cy="3674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 os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Fungsi utama: Berinteraksi dengan sistem operasi.Digunakan untuk: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Mengakses file atau direktori (misalnya log server)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Menangani path dan environment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Menjalankan perintah sistem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3"/>
          <p:cNvSpPr txBox="1"/>
          <p:nvPr/>
        </p:nvSpPr>
        <p:spPr>
          <a:xfrm>
            <a:off x="7042150" y="1445895"/>
            <a:ext cx="1845310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os_example.py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8" id="197" name="Google Shape;19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42150" y="1774825"/>
            <a:ext cx="4328160" cy="2509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4"/>
          <p:cNvSpPr txBox="1"/>
          <p:nvPr/>
        </p:nvSpPr>
        <p:spPr>
          <a:xfrm>
            <a:off x="1111250" y="833120"/>
            <a:ext cx="7045325" cy="5835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Library Socket</a:t>
            </a:r>
            <a:endParaRPr b="1" sz="32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4"/>
          <p:cNvSpPr txBox="1"/>
          <p:nvPr/>
        </p:nvSpPr>
        <p:spPr>
          <a:xfrm>
            <a:off x="1240155" y="1729105"/>
            <a:ext cx="4184015" cy="593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Alur Logika Program</a:t>
            </a:r>
            <a:endParaRPr b="1"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4"/>
          <p:cNvSpPr txBox="1"/>
          <p:nvPr/>
        </p:nvSpPr>
        <p:spPr>
          <a:xfrm>
            <a:off x="1240155" y="2322830"/>
            <a:ext cx="6096000" cy="39693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Mulai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↓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Import library os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↓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Tampilkan jenis sistem operasi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↓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Tampilkan direktori kerja saat ini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↓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Periksa apakah folder "logs" ada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↓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Jika belum ada → buat folder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↓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Selesai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5E96E1"/>
            </a:gs>
            <a:gs pos="79000">
              <a:srgbClr val="101BE1"/>
            </a:gs>
            <a:gs pos="100000">
              <a:srgbClr val="101BE1"/>
            </a:gs>
          </a:gsLst>
          <a:lin ang="6480000" scaled="0"/>
        </a:gra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5"/>
          <p:cNvSpPr/>
          <p:nvPr/>
        </p:nvSpPr>
        <p:spPr>
          <a:xfrm>
            <a:off x="3000375" y="123825"/>
            <a:ext cx="6610350" cy="6610350"/>
          </a:xfrm>
          <a:prstGeom prst="ellipse">
            <a:avLst/>
          </a:prstGeom>
          <a:gradFill>
            <a:gsLst>
              <a:gs pos="0">
                <a:srgbClr val="5E96E1"/>
              </a:gs>
              <a:gs pos="33000">
                <a:srgbClr val="5E96E1"/>
              </a:gs>
              <a:gs pos="92000">
                <a:srgbClr val="101BE1"/>
              </a:gs>
              <a:gs pos="100000">
                <a:srgbClr val="101BE1"/>
              </a:gs>
            </a:gsLst>
            <a:lin ang="1775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5"/>
          <p:cNvSpPr/>
          <p:nvPr/>
        </p:nvSpPr>
        <p:spPr>
          <a:xfrm>
            <a:off x="3375660" y="3554730"/>
            <a:ext cx="5517515" cy="506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Implementasi Client-Server</a:t>
            </a:r>
            <a:endParaRPr sz="3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5"/>
          <p:cNvSpPr/>
          <p:nvPr/>
        </p:nvSpPr>
        <p:spPr>
          <a:xfrm>
            <a:off x="3992245" y="4125595"/>
            <a:ext cx="4284345" cy="398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New Product Introduction Introduction Of The ProductNew Product Introduction Introduction Of The Product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5"/>
          <p:cNvSpPr/>
          <p:nvPr/>
        </p:nvSpPr>
        <p:spPr>
          <a:xfrm>
            <a:off x="4859655" y="1895475"/>
            <a:ext cx="2549525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3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 txBox="1"/>
          <p:nvPr/>
        </p:nvSpPr>
        <p:spPr>
          <a:xfrm>
            <a:off x="1094740" y="701040"/>
            <a:ext cx="7045325" cy="5835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Implementasi Client-Server</a:t>
            </a:r>
            <a:endParaRPr b="1" sz="32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6"/>
          <p:cNvSpPr txBox="1"/>
          <p:nvPr/>
        </p:nvSpPr>
        <p:spPr>
          <a:xfrm>
            <a:off x="1111250" y="1445895"/>
            <a:ext cx="10441305" cy="3674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Dalam pemrograman jaringan, model client–server digunakan agar dua perangkat (atau dua program) bisa berkomunikasi melalui jaringan.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Server: pihak yang menyediakan layanan (menunggu permintaan).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Client: pihak yang meminta layanan (mengirim permintaan ke server).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Komunikasi ini bisa dilakukan menggunakan dua protokol utama, yaitu TCP (Transmission Control Protocol) dan UDP (User Datagram Protocol).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"/>
          <p:cNvSpPr txBox="1"/>
          <p:nvPr/>
        </p:nvSpPr>
        <p:spPr>
          <a:xfrm>
            <a:off x="1094740" y="701040"/>
            <a:ext cx="7045325" cy="5835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Implementasi Client-Server</a:t>
            </a:r>
            <a:endParaRPr b="1" sz="32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7"/>
          <p:cNvSpPr txBox="1"/>
          <p:nvPr/>
        </p:nvSpPr>
        <p:spPr>
          <a:xfrm>
            <a:off x="1111250" y="1445895"/>
            <a:ext cx="10441305" cy="3674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TCP (Transmission Control Protocol)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Karakteristik: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Bersifat connection-oriented → harus membuat koneksi terlebih dahulu sebelum bertukar data.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Menjamin keandalan data → data yang dikirim pasti sampai, dan dalam urutan yang benar.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Contoh aplikasi: web (HTTP/HTTPS), email (SMTP), FTP.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8"/>
          <p:cNvSpPr txBox="1"/>
          <p:nvPr/>
        </p:nvSpPr>
        <p:spPr>
          <a:xfrm>
            <a:off x="1094740" y="701040"/>
            <a:ext cx="7045325" cy="5835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Implementasi Client-Server</a:t>
            </a:r>
            <a:endParaRPr b="1" sz="32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8"/>
          <p:cNvSpPr txBox="1"/>
          <p:nvPr/>
        </p:nvSpPr>
        <p:spPr>
          <a:xfrm>
            <a:off x="1111250" y="1445895"/>
            <a:ext cx="10441305" cy="3674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Alur TCP Client–Server: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Server:</a:t>
            </a:r>
            <a:endParaRPr b="1"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Membuat socket (socket.socket()).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Mengikat socket ke IP dan port (bind()).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Menunggu koneksi (listen() dan accept()).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Menerima data (recv()), mengirim balasan (send()).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Client:</a:t>
            </a:r>
            <a:endParaRPr b="1"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Membuat socket.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Menghubungkan ke server (connect()).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Mengirim data (send()).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Menerima balasan (recv()).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9"/>
          <p:cNvSpPr txBox="1"/>
          <p:nvPr/>
        </p:nvSpPr>
        <p:spPr>
          <a:xfrm>
            <a:off x="1094740" y="701040"/>
            <a:ext cx="7045325" cy="5835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Implementasi Client-Server</a:t>
            </a:r>
            <a:endParaRPr b="1" sz="32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9"/>
          <p:cNvSpPr txBox="1"/>
          <p:nvPr/>
        </p:nvSpPr>
        <p:spPr>
          <a:xfrm>
            <a:off x="1227455" y="1868805"/>
            <a:ext cx="7028815" cy="367411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import socket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server = socket.socket(socket.AF_INET, socket.SOCK_STREAM)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server.bind(('localhost', 8080))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server.listen(1)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print("Menunggu koneksi...")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conn, addr = server.accept()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print("Terhubung dengan:", addr)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data = conn.recv(1024).decode()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print("Pesan:", data)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conn.send("Halo dari server!".encode())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conn.close()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7" name="Google Shape;237;p29"/>
          <p:cNvSpPr txBox="1"/>
          <p:nvPr/>
        </p:nvSpPr>
        <p:spPr>
          <a:xfrm>
            <a:off x="1094740" y="1392238"/>
            <a:ext cx="50800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Server (tcp_server.py)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0"/>
          <p:cNvSpPr txBox="1"/>
          <p:nvPr/>
        </p:nvSpPr>
        <p:spPr>
          <a:xfrm>
            <a:off x="1094740" y="701040"/>
            <a:ext cx="7045325" cy="5835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Implementasi Client-Server</a:t>
            </a:r>
            <a:endParaRPr b="1" sz="32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30"/>
          <p:cNvSpPr txBox="1"/>
          <p:nvPr/>
        </p:nvSpPr>
        <p:spPr>
          <a:xfrm>
            <a:off x="1227455" y="1868805"/>
            <a:ext cx="7028815" cy="196596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import socket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client = socket.socket(socket.AF_INET, socket.SOCK_STREAM)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client.connect(('localhost', 8080))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client.send("Halo server!".encode())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print(client.recv(1024).decode())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client.close()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4" name="Google Shape;244;p30"/>
          <p:cNvSpPr txBox="1"/>
          <p:nvPr/>
        </p:nvSpPr>
        <p:spPr>
          <a:xfrm>
            <a:off x="1227455" y="1392238"/>
            <a:ext cx="50800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Client (tcp_client.py)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1"/>
          <p:cNvSpPr txBox="1"/>
          <p:nvPr/>
        </p:nvSpPr>
        <p:spPr>
          <a:xfrm>
            <a:off x="1094740" y="701040"/>
            <a:ext cx="7045325" cy="5835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Implementasi Client-Server</a:t>
            </a:r>
            <a:endParaRPr b="1" sz="32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31"/>
          <p:cNvSpPr txBox="1"/>
          <p:nvPr/>
        </p:nvSpPr>
        <p:spPr>
          <a:xfrm>
            <a:off x="1111250" y="1445895"/>
            <a:ext cx="10441305" cy="3674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UDP (User Datagram Protocol)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Karakteristik: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Bersifat connectionless → tidak perlu koneksi permanen.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Lebih cepat, tapi tidak menjamin keutuhan data (data bisa hilang atau tidak berurutan).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Cocok untuk aplikasi real-time seperti video streaming, VoIP, dan game online.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2"/>
          <p:cNvSpPr txBox="1"/>
          <p:nvPr/>
        </p:nvSpPr>
        <p:spPr>
          <a:xfrm>
            <a:off x="1094740" y="701040"/>
            <a:ext cx="7045325" cy="5835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Implementasi Client-Server</a:t>
            </a:r>
            <a:endParaRPr b="1" sz="32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32"/>
          <p:cNvSpPr txBox="1"/>
          <p:nvPr/>
        </p:nvSpPr>
        <p:spPr>
          <a:xfrm>
            <a:off x="1111250" y="1445895"/>
            <a:ext cx="10441305" cy="3674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Alur UDP Client–Server: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Server:</a:t>
            </a:r>
            <a:endParaRPr b="1"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Membuat socket (socket.AF_INET, socket.SOCK_DGRAM).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Mengikat ke alamat (bind()).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Menerima data (recvfrom()), mengirim balasan (sendto()).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Client:</a:t>
            </a:r>
            <a:endParaRPr b="1"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Mengirim data ke server (sendto()).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Menerima balasan (recvfrom()).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3"/>
          <p:cNvSpPr txBox="1"/>
          <p:nvPr/>
        </p:nvSpPr>
        <p:spPr>
          <a:xfrm>
            <a:off x="1094740" y="701040"/>
            <a:ext cx="7045325" cy="5835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Implementasi Client-Server</a:t>
            </a:r>
            <a:endParaRPr b="1" sz="32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33"/>
          <p:cNvSpPr txBox="1"/>
          <p:nvPr/>
        </p:nvSpPr>
        <p:spPr>
          <a:xfrm>
            <a:off x="1227455" y="1868805"/>
            <a:ext cx="7028815" cy="367411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import socket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server = socket.socket(socket.AF_INET, socket.SOCK_DGRAM)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server.bind(('localhost', 8081))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print("Menunggu pesan...")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while True: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data, addr = server.recvfrom(1024)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print("Pesan dari client:", data.decode())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server.sendto("Halo dari server UDP!".encode(), addr)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3" name="Google Shape;263;p33"/>
          <p:cNvSpPr txBox="1"/>
          <p:nvPr/>
        </p:nvSpPr>
        <p:spPr>
          <a:xfrm>
            <a:off x="1094740" y="1392238"/>
            <a:ext cx="50800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Server (udp_server.py)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4"/>
          <p:cNvSpPr txBox="1"/>
          <p:nvPr/>
        </p:nvSpPr>
        <p:spPr>
          <a:xfrm>
            <a:off x="1094740" y="701040"/>
            <a:ext cx="7045325" cy="5835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Implementasi Client-Server</a:t>
            </a:r>
            <a:endParaRPr b="1" sz="32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34"/>
          <p:cNvSpPr txBox="1"/>
          <p:nvPr/>
        </p:nvSpPr>
        <p:spPr>
          <a:xfrm>
            <a:off x="1227455" y="1868805"/>
            <a:ext cx="8306435" cy="196596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import socket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client = socket.socket(socket.AF_INET, socket.SOCK_DGRAM)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client.sendto("Halo server UDP!".encode(), ('localhost', 8081))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data, server = client.recvfrom(1024)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print("Balasan:", data.decode())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client.close()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0" name="Google Shape;270;p34"/>
          <p:cNvSpPr txBox="1"/>
          <p:nvPr/>
        </p:nvSpPr>
        <p:spPr>
          <a:xfrm>
            <a:off x="1227455" y="1392238"/>
            <a:ext cx="50800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Client (udp_client.py)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5"/>
          <p:cNvSpPr txBox="1"/>
          <p:nvPr/>
        </p:nvSpPr>
        <p:spPr>
          <a:xfrm>
            <a:off x="1094740" y="701040"/>
            <a:ext cx="7045325" cy="5835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Kesimpulan</a:t>
            </a:r>
            <a:endParaRPr b="1" sz="32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35"/>
          <p:cNvSpPr txBox="1"/>
          <p:nvPr/>
        </p:nvSpPr>
        <p:spPr>
          <a:xfrm>
            <a:off x="1111250" y="1445895"/>
            <a:ext cx="10441305" cy="3674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77" name="Google Shape;277;p35"/>
          <p:cNvGraphicFramePr/>
          <p:nvPr/>
        </p:nvGraphicFramePr>
        <p:xfrm>
          <a:off x="1067435" y="1911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{454FD5DF-8745-455B-9725-F24967BF149A}</a:tableStyleId>
              </a:tblPr>
              <a:tblGrid>
                <a:gridCol w="5242550"/>
                <a:gridCol w="5242550"/>
              </a:tblGrid>
              <a:tr h="25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/>
                        <a:t>Poin</a:t>
                      </a:r>
                      <a:endParaRPr b="1" sz="2000" u="none" cap="none" strike="noStrike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/>
                        <a:t>Penjelasan</a:t>
                      </a:r>
                      <a:endParaRPr b="1" sz="2000" u="none" cap="none" strike="noStrike"/>
                    </a:p>
                  </a:txBody>
                  <a:tcPr marT="0" marB="0" marR="0" marL="0" anchor="ctr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Dasar penting network programming</a:t>
                      </a:r>
                      <a:endParaRPr sz="20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Karena semua komunikasi data di internet menggunakan protokol seperti TCP dan UDP.</a:t>
                      </a:r>
                      <a:endParaRPr sz="2000"/>
                    </a:p>
                  </a:txBody>
                  <a:tcPr marT="0" marB="0" marR="0" marL="0" anchor="ctr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TCP</a:t>
                      </a:r>
                      <a:endParaRPr sz="20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Mengutamakan keandalan dan koneksi tetap.</a:t>
                      </a:r>
                      <a:endParaRPr sz="2000"/>
                    </a:p>
                  </a:txBody>
                  <a:tcPr marT="0" marB="0" marR="0" marL="0" anchor="ctr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UDP</a:t>
                      </a:r>
                      <a:endParaRPr sz="20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Mengutamakan kecepatan dan efisiensi.</a:t>
                      </a:r>
                      <a:endParaRPr sz="2000"/>
                    </a:p>
                  </a:txBody>
                  <a:tcPr marT="0" marB="0" marR="0" marL="0" anchor="ctr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Implementasi Python</a:t>
                      </a:r>
                      <a:endParaRPr sz="20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Menggunakan library socket.</a:t>
                      </a:r>
                      <a:endParaRPr sz="2000"/>
                    </a:p>
                  </a:txBody>
                  <a:tcPr marT="0" marB="0" marR="0" marL="0" anchor="ctr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Tujuan utama</a:t>
                      </a:r>
                      <a:endParaRPr sz="20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Menghubungkan dua program (client dan server) agar bisa saling mengirim dan menerima data.</a:t>
                      </a:r>
                      <a:endParaRPr sz="2000"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未标题-1" id="282" name="Google Shape;28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5" y="0"/>
            <a:ext cx="121888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36"/>
          <p:cNvSpPr/>
          <p:nvPr/>
        </p:nvSpPr>
        <p:spPr>
          <a:xfrm>
            <a:off x="9441400" y="5874385"/>
            <a:ext cx="2669540" cy="8299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Tim Penyusun:</a:t>
            </a:r>
            <a:endParaRPr sz="120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1. Ary Bima Kurniawan</a:t>
            </a:r>
            <a:endParaRPr sz="120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2. Agry Alfiah</a:t>
            </a:r>
            <a:endParaRPr sz="120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3. Isni Oktria</a:t>
            </a:r>
            <a:endParaRPr sz="120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84" name="Google Shape;284;p36"/>
          <p:cNvSpPr/>
          <p:nvPr/>
        </p:nvSpPr>
        <p:spPr>
          <a:xfrm>
            <a:off x="922020" y="1990725"/>
            <a:ext cx="5366238" cy="24006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TERIMA</a:t>
            </a:r>
            <a:endParaRPr b="1" sz="7500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KASIH</a:t>
            </a:r>
            <a:endParaRPr b="1" sz="7500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5" name="Google Shape;285;p36"/>
          <p:cNvGrpSpPr/>
          <p:nvPr/>
        </p:nvGrpSpPr>
        <p:grpSpPr>
          <a:xfrm>
            <a:off x="81060" y="5874385"/>
            <a:ext cx="6967074" cy="958594"/>
            <a:chOff x="81060" y="5874385"/>
            <a:chExt cx="6967074" cy="958594"/>
          </a:xfrm>
        </p:grpSpPr>
        <p:sp>
          <p:nvSpPr>
            <p:cNvPr id="286" name="Google Shape;286;p36"/>
            <p:cNvSpPr/>
            <p:nvPr/>
          </p:nvSpPr>
          <p:spPr>
            <a:xfrm>
              <a:off x="1049240" y="6115546"/>
              <a:ext cx="5998894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 cap="none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PROGRAM STUDI INFORMATIKA</a:t>
              </a:r>
              <a:endParaRPr b="1" sz="1600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 cap="none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UNIVERSITAS GUNADARMA</a:t>
              </a:r>
              <a:endParaRPr b="1" sz="1600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pic>
          <p:nvPicPr>
            <p:cNvPr id="287" name="Google Shape;287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1060" y="5874385"/>
              <a:ext cx="968180" cy="95859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2020-07-07T03:15:00Z</dcterms:created>
  <dc:creator>prodi if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1033-12.2.0.21931</vt:lpwstr>
  </property>
  <property fmtid="{D5CDD505-2E9C-101B-9397-08002B2CF9AE}" pid="3" name="ICV">
    <vt:lpwstr>727196DE723C4A5A863B5CB8868E4828_13</vt:lpwstr>
  </property>
</Properties>
</file>